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274320"/>
            <a:ext cx="3840480" cy="594360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274320"/>
            <a:ext cx="3474720" cy="5943600"/>
          </a:xfrm>
          <a:prstGeom prst="rect">
            <a:avLst/>
          </a:prstGeom>
          <a:solidFill>
            <a:srgbClr val="1A2E6E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91440" cy="2011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STITCHING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two camera feeds into a seamless wide-angle video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502920"/>
            <a:ext cx="2743200" cy="658368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502920"/>
            <a:ext cx="256032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Feature Detection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743200" cy="658368"/>
          </a:xfrm>
          <a:prstGeom prst="rect">
            <a:avLst/>
          </a:prstGeom>
          <a:solidFill>
            <a:srgbClr val="1A2E6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371600"/>
            <a:ext cx="256032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Homography &amp; RANSAC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240280"/>
            <a:ext cx="2743200" cy="658368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240280"/>
            <a:ext cx="256032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Canvas Geometry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3108960"/>
            <a:ext cx="2743200" cy="658368"/>
          </a:xfrm>
          <a:prstGeom prst="rect">
            <a:avLst/>
          </a:prstGeom>
          <a:solidFill>
            <a:srgbClr val="1A2E6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108960"/>
            <a:ext cx="256032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Alpha Blending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3977640"/>
            <a:ext cx="2743200" cy="658368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977640"/>
            <a:ext cx="256032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H.264 Encoding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fixed-pixel overlap fails — and what we do instead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31936" cy="22860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70432"/>
            <a:ext cx="4023360" cy="356616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61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WHY NAIVE CROPPING FAILS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3657600" cy="2834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 — objects at different depths appear at different positions in each camera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difference — each camera sees the scene from a slightly different angle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blend zone — gradient applied at wrong columns creates ghosting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padding — canvas sized by guesswork, not geometry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170432"/>
            <a:ext cx="4407408" cy="356616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2618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CORRECT PIPELINE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71907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7190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match features across both frames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1945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194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homography with RANSAC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67004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670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canvas from projected geometry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14553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1455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to remove all black space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362102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36210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Feather-blend across the seam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40965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40965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Re-encode to H.264 for browser playback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Detection &amp; Matching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algorithm + Lowe's Ratio Test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31936" cy="22860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70432"/>
            <a:ext cx="5303520" cy="169164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252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 —  Oriented FAST + Rotated BRIEF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49377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detector — identifies corners by checking a 16-pixel circle for brightness arcs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descriptor — encodes each corner as a 256-bit binary fingerprint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invariant — patches are oriented before comparison, handling camera tilt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features extracted per frame for maximum coverage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" y="2926080"/>
            <a:ext cx="5303520" cy="192024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9809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Lowe's Ratio Test  —  Filtering Bad Matches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49377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feature, retrieve the 2 closest matches. Keep only if: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675888"/>
            <a:ext cx="4754880" cy="411480"/>
          </a:xfrm>
          <a:prstGeom prst="rect">
            <a:avLst/>
          </a:prstGeom>
          <a:solidFill>
            <a:srgbClr val="0D1B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941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best_match.distance  &lt;  0.72 × second_best.distance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133088"/>
            <a:ext cx="4937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ambiguous matches — only unambiguously correct correspondences survive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42432" y="1170432"/>
            <a:ext cx="3145536" cy="3675888"/>
          </a:xfrm>
          <a:prstGeom prst="rect">
            <a:avLst/>
          </a:prstGeom>
          <a:solidFill>
            <a:srgbClr val="122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1243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Calibration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70448" y="1591056"/>
            <a:ext cx="283464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1682496"/>
            <a:ext cx="283464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are fixed → homography never changes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10 frames evenly across the video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ALL matched points from every sample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one homography to the full combined set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more data = far more stable result than single-frame approach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&amp; RANSAC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alignment of two camera planes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31936" cy="22860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70432"/>
            <a:ext cx="8631936" cy="105156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25296"/>
            <a:ext cx="83210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homography is a 3×3 matrix that maps every pixel in the right camera to its exact location in the left camera's coordinate system — handling translation, rotation, scale, and perspective in a single operation.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032" y="2322576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— Robust Estimation in the Presence of Bad Matches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697480"/>
            <a:ext cx="1627632" cy="150876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" y="27432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" y="316382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sample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3547872"/>
            <a:ext cx="144475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4 matched point pairs at random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93392" y="2697480"/>
            <a:ext cx="1627632" cy="150876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15184" y="27432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5184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84832" y="316382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candidate 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3547872"/>
            <a:ext cx="144475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homography to those 4 points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30752" y="2697480"/>
            <a:ext cx="1627632" cy="150876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52544" y="27432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544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22192" y="316382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inliers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22192" y="3547872"/>
            <a:ext cx="144475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with reprojection error &lt; 4 px are inliers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68112" y="2697480"/>
            <a:ext cx="1627632" cy="150876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7432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59552" y="316382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5,000×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59552" y="3547872"/>
            <a:ext cx="144475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H with the most inliers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05472" y="2697480"/>
            <a:ext cx="1627632" cy="1508760"/>
          </a:xfrm>
          <a:prstGeom prst="rect">
            <a:avLst/>
          </a:prstGeom>
          <a:solidFill>
            <a:srgbClr val="0D3B6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27264" y="27432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27264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96912" y="316382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refit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96912" y="3547872"/>
            <a:ext cx="1444752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H using ALL inliers (least-squares)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4315968"/>
            <a:ext cx="8631936" cy="658368"/>
          </a:xfrm>
          <a:prstGeom prst="rect">
            <a:avLst/>
          </a:prstGeom>
          <a:solidFill>
            <a:srgbClr val="0D1B4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4407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Offset: 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691640" y="440740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warped right image lands at negative coordinates, a translation matrix T is prepended to H so the full canvas shifts right/down — nothing is clipped.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Cropping &amp; Alpha Blending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black space and invisible seam creation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31936" cy="22860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70432"/>
            <a:ext cx="4160520" cy="356616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435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Strategy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664208"/>
            <a:ext cx="3886200" cy="1051560"/>
          </a:xfrm>
          <a:prstGeom prst="rect">
            <a:avLst/>
          </a:prstGeom>
          <a:solidFill>
            <a:srgbClr val="0D1B4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664208"/>
            <a:ext cx="73152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011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pixels covered by BOTH cameras. Zero black. Slightly smaller frame.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852928"/>
            <a:ext cx="3886200" cy="1051560"/>
          </a:xfrm>
          <a:prstGeom prst="rect">
            <a:avLst/>
          </a:prstGeom>
          <a:solidFill>
            <a:srgbClr val="0D1B4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852928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907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fallback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3200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pixels from either camera. Larger but may have thin edge wedges.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" y="4078224"/>
            <a:ext cx="3886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is chosen if it covers ≥ 40% of the union area. Computed once, applied to every frame.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1170432"/>
            <a:ext cx="4361688" cy="3566160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2435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Smoothstep Alpha Blending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73736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cut  —  Visible seam line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176272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157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gradient  —  Ghosting / double image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615184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Smoothstep ✓  —  Invisible transition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212848"/>
            <a:ext cx="4059936" cy="475488"/>
          </a:xfrm>
          <a:prstGeom prst="rect">
            <a:avLst/>
          </a:prstGeom>
          <a:solidFill>
            <a:srgbClr val="0D1B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23113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t² × (3 − 2t)     [smoothstep cubic]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2798064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Handling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090672"/>
            <a:ext cx="4059936" cy="1572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with only left camera → α = 0 (100% left)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with only right camera → α = 1 (100% right)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darkening at frame edges from incorrect alpha multiply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H.264 Encoding for Browser Compatibility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output pipeline via FFmpeg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31936" cy="22860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70432"/>
            <a:ext cx="4160520" cy="1463040"/>
          </a:xfrm>
          <a:prstGeom prst="rect">
            <a:avLst/>
          </a:prstGeom>
          <a:solidFill>
            <a:srgbClr val="2D101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435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The Problem with mp4v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OpenCV's default mp4v (MPEG-4 Part 2) codec produces a valid container but no browser or media player natively plays it. Result: silent black frame with a loading error — no console warnings.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2724912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Solution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3035808"/>
            <a:ext cx="2633472" cy="841248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" y="30723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" y="340156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 frames to merged_raw.mp4 using mp4v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9504" y="3054096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255264" y="3035808"/>
            <a:ext cx="2633472" cy="841248"/>
          </a:xfrm>
          <a:prstGeom prst="rect">
            <a:avLst/>
          </a:prstGeom>
          <a:solidFill>
            <a:srgbClr val="0D3B6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28416" y="30723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340156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Re-encode to H.264 (libx264) · Delete raw temp file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88736" y="3054096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54496" y="3035808"/>
            <a:ext cx="2633472" cy="841248"/>
          </a:xfrm>
          <a:prstGeom prst="rect">
            <a:avLst/>
          </a:prstGeom>
          <a:solidFill>
            <a:srgbClr val="0D3B1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27648" y="30723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340156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Browser-ready H.264 · Streaming enabled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" y="3858768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FFmpeg Flags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4133088"/>
          <a:ext cx="8631936" cy="1005840"/>
        </p:xfrm>
        <a:graphic>
          <a:graphicData uri="http://schemas.openxmlformats.org/drawingml/2006/table">
            <a:tbl>
              <a:tblPr/>
              <a:tblGrid>
                <a:gridCol w="2194560"/>
                <a:gridCol w="6437376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-vcodec libx264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H.264 encoder — universal browser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-crf 18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Near-lossless quality (0 = lossless, 51 = worst)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-pix_fmt yuv420p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format required by every browser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-movflags +faststart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at front → streaming starts before full download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Summary &amp; 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6032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technique overview and further reading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31936" cy="22860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521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at a Glance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463040"/>
          <a:ext cx="50292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detection — FAST + BRIEF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Ratio Test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 threshold — remove false matches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Multi-frame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calibration frames — pooled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Homography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 projective transform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RANSAC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iterations, 99.95% confidence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Canvas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Perspective-projected corner sizing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Crop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 (or union) — zero black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Blend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Smoothstep feather over overlap 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5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Encode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libx264 + yuv420p + faststart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0" y="1152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1463040"/>
            <a:ext cx="3383280" cy="420624"/>
          </a:xfrm>
          <a:prstGeom prst="rect">
            <a:avLst/>
          </a:prstGeom>
          <a:solidFill>
            <a:srgbClr val="0D1B4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59552" y="14996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Paper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83680" y="14996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Rublee et al. (2011). ORB: An efficient alternative to SIFT or SURF. ICCV.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1920240"/>
            <a:ext cx="3383280" cy="420624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59552" y="19568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Lowe's Ratio Test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0" y="19568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Lowe, D.G. (2004). Distinctive image features from scale-invariant keypoints. IJCV 60(2).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2377440"/>
            <a:ext cx="3383280" cy="420624"/>
          </a:xfrm>
          <a:prstGeom prst="rect">
            <a:avLst/>
          </a:prstGeom>
          <a:solidFill>
            <a:srgbClr val="0D1B4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59552" y="2414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583680" y="24140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Fischler &amp; Bolles (1981). Random sample consensus. Communications of the ACM 24(6).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2834640"/>
            <a:ext cx="3383280" cy="420624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59552" y="2871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83680" y="28712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Hartley &amp; Zisserman (2004). Multiple View Geometry in Computer Vision. Cambridge.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0" y="3291840"/>
            <a:ext cx="3383280" cy="420624"/>
          </a:xfrm>
          <a:prstGeom prst="rect">
            <a:avLst/>
          </a:prstGeom>
          <a:solidFill>
            <a:srgbClr val="0D1B4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559552" y="33284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Smoothstep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583680" y="33284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Perlin, K. (1985). An image synthesizer. SIGGRAPH — basis for smooth interpolation.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86400" y="3749040"/>
            <a:ext cx="3383280" cy="420624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559552" y="37856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583680" y="37856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docs.opencv.org — Feature Detection, calib3d, VideoWriter modules.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86400" y="4206240"/>
            <a:ext cx="3383280" cy="420624"/>
          </a:xfrm>
          <a:prstGeom prst="rect">
            <a:avLst/>
          </a:prstGeom>
          <a:solidFill>
            <a:srgbClr val="0D1B4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559552" y="42428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H.264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583680" y="42428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trac.ffmpeg.org/wiki/Encode/H.264 — libx264 encoding guide.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486400" y="4663440"/>
            <a:ext cx="3383280" cy="420624"/>
          </a:xfrm>
          <a:prstGeom prst="rect">
            <a:avLst/>
          </a:prstGeom>
          <a:solidFill>
            <a:srgbClr val="12235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559552" y="4700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Stitching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583680" y="470001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Szeliski, R. (2022). Computer Vision: Algorithms and Applications, Ch. 9. Springer.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Stitching Techniques</dc:title>
  <dc:subject>PptxGenJS Presentation</dc:subject>
  <dc:creator>PptxGenJS</dc:creator>
  <cp:lastModifiedBy>PptxGenJS</cp:lastModifiedBy>
  <cp:revision>1</cp:revision>
  <dcterms:created xsi:type="dcterms:W3CDTF">2026-03-04T20:37:56Z</dcterms:created>
  <dcterms:modified xsi:type="dcterms:W3CDTF">2026-03-04T20:37:56Z</dcterms:modified>
</cp:coreProperties>
</file>